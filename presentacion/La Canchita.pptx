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45772801294332" /><Relationship Type="http://schemas.openxmlformats.org/officeDocument/2006/relationships/extended-properties" Target="/docProps/app.xml" Id="Refc578463ab840c6" /><Relationship Type="http://schemas.openxmlformats.org/officeDocument/2006/relationships/officeDocument" Target="/ppt/presentation.xml" Id="Rb489243ffd0343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9a2dda00af4db0"/>
  </p:sldMasterIdLst>
  <p:notesMasterIdLst>
    <p:notesMasterId xmlns:r="http://schemas.openxmlformats.org/officeDocument/2006/relationships" r:id="Re49f52505b5d42a1"/>
  </p:notesMasterIdLst>
  <p:sldIdLst>
    <p:sldId xmlns:r="http://schemas.openxmlformats.org/officeDocument/2006/relationships" id="256" r:id="R4a62af0fcb234737"/>
    <p:sldId xmlns:r="http://schemas.openxmlformats.org/officeDocument/2006/relationships" id="257" r:id="Rec3e09731ea248ba"/>
    <p:sldId xmlns:r="http://schemas.openxmlformats.org/officeDocument/2006/relationships" id="258" r:id="R5f808b1e3e204d1f"/>
    <p:sldId xmlns:r="http://schemas.openxmlformats.org/officeDocument/2006/relationships" id="259" r:id="R2e670b48ad5b4a3b"/>
    <p:sldId xmlns:r="http://schemas.openxmlformats.org/officeDocument/2006/relationships" id="260" r:id="R677239b0bfc94baf"/>
    <p:sldId xmlns:r="http://schemas.openxmlformats.org/officeDocument/2006/relationships" id="261" r:id="Rdd019f6897204e3f"/>
    <p:sldId xmlns:ns1="http://schemas.openxmlformats.org/officeDocument/2006/relationships" id="400" ns1:id="rIdFidelity0"/>
    <p:sldId xmlns:ns1="http://schemas.openxmlformats.org/officeDocument/2006/relationships" id="401" ns1:id="rIdFidelity1"/>
    <p:sldId xmlns:ns1="http://schemas.openxmlformats.org/officeDocument/2006/relationships" id="402" ns1:id="rIdFidelity2"/>
    <p:sldId xmlns:ns1="http://schemas.openxmlformats.org/officeDocument/2006/relationships" id="403" ns1:id="rIdFidelity3"/>
    <p:sldId xmlns:ns1="http://schemas.openxmlformats.org/officeDocument/2006/relationships" id="404" ns1:id="rIdFidelity4"/>
    <p:sldId xmlns:ns1="http://schemas.openxmlformats.org/officeDocument/2006/relationships" id="405" ns1:id="rIdFidelity5"/>
    <p:sldId xmlns:ns1="http://schemas.openxmlformats.org/officeDocument/2006/relationships" id="406" ns1:id="rIdFidelity6"/>
    <p:sldId xmlns:ns1="http://schemas.openxmlformats.org/officeDocument/2006/relationships" id="407" ns1:id="rIdFidelity7"/>
    <p:sldId xmlns:ns1="http://schemas.openxmlformats.org/officeDocument/2006/relationships" id="408" ns1:id="rIdFidelity8"/>
    <p:sldId xmlns:ns1="http://schemas.openxmlformats.org/officeDocument/2006/relationships" id="409" ns1:id="rIdFidelity9"/>
    <p:sldId xmlns:ns1="http://schemas.openxmlformats.org/officeDocument/2006/relationships" id="410" ns1:id="rIdFidelity10"/>
    <p:sldId xmlns:ns1="http://schemas.openxmlformats.org/officeDocument/2006/relationships" id="411" ns1:id="rIdFidelity11"/>
    <p:sldId xmlns:r="http://schemas.openxmlformats.org/officeDocument/2006/relationships" id="263" r:id="R4eeb4419f21d400e"/>
    <p:sldId xmlns:r="http://schemas.openxmlformats.org/officeDocument/2006/relationships" id="264" r:id="R92339bd61b0d4119"/>
    <p:sldId xmlns:r="http://schemas.openxmlformats.org/officeDocument/2006/relationships" id="265" r:id="Rc811ae859a5b4c52"/>
    <p:sldId xmlns:r="http://schemas.openxmlformats.org/officeDocument/2006/relationships" id="266" r:id="Re7831875fa004fba"/>
    <p:sldId xmlns:r="http://schemas.openxmlformats.org/officeDocument/2006/relationships" id="267" r:id="Rbfd2b3f58ae445b2"/>
    <p:sldId xmlns:r="http://schemas.openxmlformats.org/officeDocument/2006/relationships" id="268" r:id="Reff833c2853d4f4a"/>
    <p:sldId xmlns:r="http://schemas.openxmlformats.org/officeDocument/2006/relationships" id="269" r:id="R696d1a15960042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28f2ef8fd3ad4bc3"/><Relationship Type="http://schemas.openxmlformats.org/officeDocument/2006/relationships/slideMaster" Target="/ppt/slideMasters/slideMaster1.xml" Id="R5a9a2dda00af4db0"/><Relationship Type="http://schemas.openxmlformats.org/officeDocument/2006/relationships/notesMaster" Target="/ppt/notesMasters/notesMaster1.xml" Id="Re49f52505b5d42a1"/><Relationship Type="http://schemas.openxmlformats.org/officeDocument/2006/relationships/presProps" Target="/ppt/presProps.xml" Id="Ra6a59fb1874542f5"/><Relationship Type="http://schemas.openxmlformats.org/officeDocument/2006/relationships/tableStyles" Target="/ppt/tableStyles.xml" Id="R4095c473f82e486d"/><Relationship Type="http://schemas.openxmlformats.org/officeDocument/2006/relationships/slide" Target="/ppt/slides/slide1.xml" Id="R4a62af0fcb234737"/><Relationship Type="http://schemas.openxmlformats.org/officeDocument/2006/relationships/slide" Target="/ppt/slides/slide2.xml" Id="Rec3e09731ea248ba"/><Relationship Type="http://schemas.openxmlformats.org/officeDocument/2006/relationships/slide" Target="/ppt/slides/slide3.xml" Id="R5f808b1e3e204d1f"/><Relationship Type="http://schemas.openxmlformats.org/officeDocument/2006/relationships/slide" Target="/ppt/slides/slide4.xml" Id="R2e670b48ad5b4a3b"/><Relationship Type="http://schemas.openxmlformats.org/officeDocument/2006/relationships/slide" Target="/ppt/slides/slide5.xml" Id="R677239b0bfc94baf"/><Relationship Type="http://schemas.openxmlformats.org/officeDocument/2006/relationships/slide" Target="/ppt/slides/slide6.xml" Id="Rdd019f6897204e3f"/><Relationship Type="http://schemas.openxmlformats.org/officeDocument/2006/relationships/slide" Target="/ppt/slides/slide7.xml" Id="R486a543062204d41"/><Relationship Type="http://schemas.openxmlformats.org/officeDocument/2006/relationships/slide" Target="/ppt/slides/slide8.xml" Id="R4eeb4419f21d400e"/><Relationship Type="http://schemas.openxmlformats.org/officeDocument/2006/relationships/slide" Target="/ppt/slides/slide9.xml" Id="R92339bd61b0d4119"/><Relationship Type="http://schemas.openxmlformats.org/officeDocument/2006/relationships/slide" Target="/ppt/slides/slide10.xml" Id="Rc811ae859a5b4c52"/><Relationship Type="http://schemas.openxmlformats.org/officeDocument/2006/relationships/slide" Target="/ppt/slides/slide11.xml" Id="Re7831875fa004fba"/><Relationship Type="http://schemas.openxmlformats.org/officeDocument/2006/relationships/slide" Target="/ppt/slides/slide12.xml" Id="Rbfd2b3f58ae445b2"/><Relationship Type="http://schemas.openxmlformats.org/officeDocument/2006/relationships/slide" Target="/ppt/slides/slide13.xml" Id="Reff833c2853d4f4a"/><Relationship Type="http://schemas.openxmlformats.org/officeDocument/2006/relationships/slide" Target="/ppt/slides/slide14.xml" Id="R696d1a1596004232"/><Relationship Id="rIdFidelity0" Type="http://schemas.openxmlformats.org/officeDocument/2006/relationships/slide" Target="slides/slide15.xml"/><Relationship Id="rIdFidelity1" Type="http://schemas.openxmlformats.org/officeDocument/2006/relationships/slide" Target="slides/slide16.xml"/><Relationship Id="rIdFidelity2" Type="http://schemas.openxmlformats.org/officeDocument/2006/relationships/slide" Target="slides/slide17.xml"/><Relationship Id="rIdFidelity3" Type="http://schemas.openxmlformats.org/officeDocument/2006/relationships/slide" Target="slides/slide18.xml"/><Relationship Id="rIdFidelity4" Type="http://schemas.openxmlformats.org/officeDocument/2006/relationships/slide" Target="slides/slide19.xml"/><Relationship Id="rIdFidelity5" Type="http://schemas.openxmlformats.org/officeDocument/2006/relationships/slide" Target="slides/slide20.xml"/><Relationship Id="rIdFidelity6" Type="http://schemas.openxmlformats.org/officeDocument/2006/relationships/slide" Target="slides/slide21.xml"/><Relationship Id="rIdFidelity7" Type="http://schemas.openxmlformats.org/officeDocument/2006/relationships/slide" Target="slides/slide22.xml"/><Relationship Id="rIdFidelity8" Type="http://schemas.openxmlformats.org/officeDocument/2006/relationships/slide" Target="slides/slide23.xml"/><Relationship Id="rIdFidelity9" Type="http://schemas.openxmlformats.org/officeDocument/2006/relationships/slide" Target="slides/slide24.xml"/><Relationship Id="rIdFidelity10" Type="http://schemas.openxmlformats.org/officeDocument/2006/relationships/slide" Target="slides/slide25.xml"/><Relationship Id="rIdFidelity11" Type="http://schemas.openxmlformats.org/officeDocument/2006/relationships/slide" Target="slides/slide26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e67159921b43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f9d1f7f0c34c04" /><Relationship Type="http://schemas.openxmlformats.org/officeDocument/2006/relationships/notesMaster" Target="/ppt/notesMasters/notesMaster1.xml" Id="Rdc784a0d1d3449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b14a123d464a60" /><Relationship Type="http://schemas.openxmlformats.org/officeDocument/2006/relationships/notesMaster" Target="/ppt/notesMasters/notesMaster1.xml" Id="R41f7f4836b8442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b3dd324d5346c0" /><Relationship Type="http://schemas.openxmlformats.org/officeDocument/2006/relationships/notesMaster" Target="/ppt/notesMasters/notesMaster1.xml" Id="Rfcf2d3c7e5d54b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88b6ec2e734c55" /><Relationship Type="http://schemas.openxmlformats.org/officeDocument/2006/relationships/notesMaster" Target="/ppt/notesMasters/notesMaster1.xml" Id="R3c0cfd89ca744d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875426fcf04c0e" /><Relationship Type="http://schemas.openxmlformats.org/officeDocument/2006/relationships/notesMaster" Target="/ppt/notesMasters/notesMaster1.xml" Id="R4ec3614f99a745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93b33219eb4df8" /><Relationship Type="http://schemas.openxmlformats.org/officeDocument/2006/relationships/notesMaster" Target="/ppt/notesMasters/notesMaster1.xml" Id="R93fa55ff634347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d49c3d386e41a8" /><Relationship Type="http://schemas.openxmlformats.org/officeDocument/2006/relationships/notesMaster" Target="/ppt/notesMasters/notesMaster1.xml" Id="R807dd6cb678d47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380e92bf644e8d" /><Relationship Type="http://schemas.openxmlformats.org/officeDocument/2006/relationships/notesMaster" Target="/ppt/notesMasters/notesMaster1.xml" Id="Redb49753892d4d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4437f7e6344cf7" /><Relationship Type="http://schemas.openxmlformats.org/officeDocument/2006/relationships/notesMaster" Target="/ppt/notesMasters/notesMaster1.xml" Id="R219bf3d0fb2740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8ad0d41a36430a" /><Relationship Type="http://schemas.openxmlformats.org/officeDocument/2006/relationships/notesMaster" Target="/ppt/notesMasters/notesMaster1.xml" Id="Rc6c49f322f8d42a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88df77055f471c" /><Relationship Type="http://schemas.openxmlformats.org/officeDocument/2006/relationships/notesMaster" Target="/ppt/notesMasters/notesMaster1.xml" Id="R91f0821cd67346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ded018fcdd43ed" /><Relationship Type="http://schemas.openxmlformats.org/officeDocument/2006/relationships/notesMaster" Target="/ppt/notesMasters/notesMaster1.xml" Id="Rce4ec73c3d9649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1db0e9b9504616" /><Relationship Type="http://schemas.openxmlformats.org/officeDocument/2006/relationships/notesMaster" Target="/ppt/notesMasters/notesMaster1.xml" Id="R33516318753046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17296abf894c2a" /><Relationship Type="http://schemas.openxmlformats.org/officeDocument/2006/relationships/notesMaster" Target="/ppt/notesMasters/notesMaster1.xml" Id="R4044359cc39e43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Buenos días. Soy Erik Guerrero Valentin y presento La Canchita, mi proyecto del TEMA 4 para el curso Arquitectura de Entornos Web. La propuesta es un sitio de alquiler de canchas de fútbol y vóley para un negocio ficticio de San Juan de Miraflores, Lima. El profesor autorizó la presentación individual.</a:t>
            </a:r>
          </a:p>
          <a:p xmlns:a="http://schemas.openxmlformats.org/drawingml/2006/main">
            <a:r>
              <a:t>Fuente: Informe final, carátula y resumen.</a:t>
            </a:r>
          </a:p>
          <a:p xmlns:a="http://schemas.openxmlformats.org/drawingml/2006/main">
            <a:r>
              <a:t>Referencia visual: https://admision.cibertec.edu.pe/educacion-adulta/diseno-grafico/ y /assets/css/base-landings.css. Diseño adaptado para el proyecto académico, no plantilla oficial.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Antes de alquilar una cancha, un grupo necesita conocer sus características, el horario de atención y el precio. La Canchita reúne esa información y permite estimar el costo del alquiler. El sitio presenta las canchas del negocio, pero no comprueba si están libres en una fecha determinada.</a:t>
            </a:r>
          </a:p>
          <a:p xmlns:a="http://schemas.openxmlformats.org/drawingml/2006/main">
            <a:r>
              <a:t>Fuente: Informe final, introducción y justificación.</a:t>
            </a:r>
          </a:p>
          <a:p xmlns:a="http://schemas.openxmlformats.org/drawingml/2006/main">
            <a:r>
              <a:t>Referencia visual: https://admision.cibertec.edu.pe/educacion-adulta/diseno-grafico/ y /assets/css/base-landings.css. Diseño adaptado para el proyecto académico, no plantilla oficial.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Revisé las variables social, económica y tecnológica. La información social aporta contexto sobre la actividad física. La económica orienta la presentación de los precios y la tecnológica ayuda a justificar la adaptación al celular. Las cifras corresponden al mundo, al Perú o a Lima Metropolitana. No son una encuesta de clientes del distrito.</a:t>
            </a:r>
          </a:p>
          <a:p xmlns:a="http://schemas.openxmlformats.org/drawingml/2006/main">
            <a:r>
              <a:t>Fuente: Diagnóstico SEPTE, notas al pie de la OMS y del INEI. Las referencias completas están en el informe y en el guion.</a:t>
            </a:r>
          </a:p>
          <a:p xmlns:a="http://schemas.openxmlformats.org/drawingml/2006/main">
            <a:r>
              <a:t>Referencia visual: https://admision.cibertec.edu.pe/educacion-adulta/diseno-grafico/ y /assets/css/base-landings.css. Diseño adaptado para el proyecto académico, no plantilla oficial.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Definí dos objetivos con plazo hasta el 16 de octubre de 2026. El primero fue construir seis páginas y revisarlas en computadora y celular. El segundo fue implementar la calculadora y validar el formulario. Los resultados de las pruebas muestran que se cumplieron las metas de construcción y funcionamiento.</a:t>
            </a:r>
          </a:p>
          <a:p xmlns:a="http://schemas.openxmlformats.org/drawingml/2006/main">
            <a:r>
              <a:t>Fuente: Objetivos SMART e informe final, objetivos y resultados.</a:t>
            </a:r>
          </a:p>
          <a:p xmlns:a="http://schemas.openxmlformats.org/drawingml/2006/main">
            <a:r>
              <a:t>Referencia visual: https://admision.cibertec.edu.pe/educacion-adulta/diseno-grafico/ y /assets/css/base-landings.css. Diseño adaptado para el proyecto académico, no plantilla oficial.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negocio ficticio tiene siete canchas de fútbol de césped sintético y tres de vóley de losa. Cada cancha de fútbol admite hasta catorce jugadores y cada una de vóley, hasta doce. Todas tienen iluminación. Cuatro de fútbol y una de vóley tienen techo. El horario es de lunes a domingo, de ocho de la mañana a once de la noche. El formulario es una demostración y no registra reservas ni procesa pagos.</a:t>
            </a:r>
          </a:p>
          <a:p xmlns:a="http://schemas.openxmlformats.org/drawingml/2006/main">
            <a:r>
              <a:t>Fuente: Informe final, definición y alcance.</a:t>
            </a:r>
          </a:p>
          <a:p xmlns:a="http://schemas.openxmlformats.org/drawingml/2006/main">
            <a:r>
              <a:t>Referencia visual: https://admision.cibertec.edu.pe/educacion-adulta/diseno-grafico/ y /assets/css/base-landings.css. Diseño adaptado para el proyecto académico, no plantilla oficial.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sitio tiene seis páginas: Inicio, Canchas, Precios y horarios, Instalaciones, Solicitud de reserva y Contacto. Todas comparten el menú principal. Canchas incluye los filtros por deporte. Instalaciones presenta la galería y el video. Solicitud de reserva reúne el formulario y la calculadora. Fuente del mapa: archivo La Canchita · Alta fidelidad en Penpot, grupo 00. Mapa del sitio · Comenzar aquí. Exportado el 17/10/2026 mediante Penpot MCP.</a:t>
            </a:r>
          </a:p>
          <a:p xmlns:a="http://schemas.openxmlformats.org/drawingml/2006/main">
            <a:r>
              <a:t>Fuente: Mapa del sitio e informe final, anexos.</a:t>
            </a:r>
          </a:p>
          <a:p xmlns:a="http://schemas.openxmlformats.org/drawingml/2006/main">
            <a:r>
              <a:t>Referencia visual: https://admision.cibertec.edu.pe/educacion-adulta/diseno-grafico/ y /assets/css/base-landings.css. Diseño adaptado para el proyecto académico, no plantilla oficial.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proyecto La Canchita · Wireframes en Penpot contiene dos archivos: La Canchita · Alta fidelidad y La Canchita · Baja fidelidad. Incluyen vistas para computadora y celular, el menú, los filtros y los mensajes del formulario. Estos diseños sirven como referencia del sitio.</a:t>
            </a:r>
          </a:p>
          <a:p xmlns:a="http://schemas.openxmlformats.org/drawingml/2006/main">
            <a:r>
              <a:t>Fuente: archivos La Canchita · Alta fidelidad y La Canchita · Baja fidelidad del proyecto La Canchita · Wireframes en Penpot, galería local de diseños y orden de exposición.</a:t>
            </a:r>
          </a:p>
          <a:p xmlns:a="http://schemas.openxmlformats.org/drawingml/2006/main">
            <a:r>
              <a:t>Referencia visual: https://admision.cibertec.edu.pe/educacion-adulta/diseno-grafico/ y /assets/css/base-landings.css. Diseño adaptado para el proyecto académico, no plantilla oficial.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Usé HTML5 para organizar el contenido, CSS y Bootstrap para los estilos y JavaScript para las funciones. Los archivos se ordenan en las carpetas images, style, js y videos. Penpot reúne los diseños. GitHub conserva el código y GitHub Pages publica la web. El sitio también abre desde la carpeta local, con sus recursos incluidos.</a:t>
            </a:r>
          </a:p>
          <a:p xmlns:a="http://schemas.openxmlformats.org/drawingml/2006/main">
            <a:r>
              <a:t>Fuente: Archivos del sitio e informe final. Repositorio público: https://github.com/erikgv2024/PR-2026-01-Entregables. Web: https://erikgv2024.github.io/la-canchita-web/.</a:t>
            </a:r>
          </a:p>
          <a:p xmlns:a="http://schemas.openxmlformats.org/drawingml/2006/main">
            <a:r>
              <a:t>Referencia visual: https://admision.cibertec.edu.pe/educacion-adulta/diseno-grafico/ y /assets/css/base-landings.css. Diseño adaptado para el proyecto académico, no plantilla oficial.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la página Canchas puedo filtrar las opciones por deporte. Todas muestra diez canchas, Fútbol muestra siete y Vóley muestra tres. El filtro cambia las tarjetas visibles sin recargar la página. El menú y el submenú permiten acceder a las páginas y a cada deporte.</a:t>
            </a:r>
          </a:p>
          <a:p xmlns:a="http://schemas.openxmlformats.org/drawingml/2006/main">
            <a:r>
              <a:t>Fuente: Sitio funcional y pruebas de navegación y filtros de la tarea 12.</a:t>
            </a:r>
          </a:p>
          <a:p xmlns:a="http://schemas.openxmlformats.org/drawingml/2006/main">
            <a:r>
              <a:t>Referencia visual: https://admision.cibertec.edu.pe/educacion-adulta/diseno-grafico/ y /assets/css/base-landings.css. Diseño adaptado para el proyecto académico, no plantilla oficial.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calculadora suma cada hora con su tarifa. En un alquiler de cuatro a seis de la tarde, la primera hora corresponde a la tarifa diurna y la segunda a la nocturna. El total es noventa soles para fútbol y setenta para vóley. Tener techo no cambia el precio. Para la demostración elegiré una fecha actual o futura y una duración de dos horas.</a:t>
            </a:r>
          </a:p>
          <a:p xmlns:a="http://schemas.openxmlformats.org/drawingml/2006/main">
            <a:r>
              <a:t>Fuente: Precios y horarios, calculadora y seis casos de cálculo de la tarea 12.</a:t>
            </a:r>
          </a:p>
          <a:p xmlns:a="http://schemas.openxmlformats.org/drawingml/2006/main">
            <a:r>
              <a:t>Referencia visual: https://admision.cibertec.edu.pe/educacion-adulta/diseno-grafico/ y /assets/css/base-landings.css. Diseño adaptado para el proyecto académico, no plantilla oficial.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formulario revisa los campos obligatorios, el correo, el teléfono, la fecha y el horario. Si falta un dato o es inválido, muestra un mensaje para corregirlo. Cuando los datos son válidos, presenta un resumen en la misma página. La información no se envía a un servidor ni confirma una reserva real.</a:t>
            </a:r>
          </a:p>
          <a:p xmlns:a="http://schemas.openxmlformats.org/drawingml/2006/main">
            <a:r>
              <a:t>Fuente: Solicitud de reserva y pruebas del formulario de la tarea 12.</a:t>
            </a:r>
          </a:p>
          <a:p xmlns:a="http://schemas.openxmlformats.org/drawingml/2006/main">
            <a:r>
              <a:t>Referencia visual: https://admision.cibertec.edu.pe/educacion-adulta/diseno-grafico/ y /assets/css/base-landings.css. Diseño adaptado para el proyecto académico, no plantilla oficial.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diseño cambia según el ancho de la pantalla. En celular, el menú se abre con un botón y las tarjetas se ordenan en una columna. Los filtros, la calculadora y el formulario siguen disponibles. Las pruebas incluyeron anchos de 360, 390, 768, 1200 y 1440 píxeles en Chrome.</a:t>
            </a:r>
          </a:p>
          <a:p xmlns:a="http://schemas.openxmlformats.org/drawingml/2006/main">
            <a:r>
              <a:t>Fuente: Capturas y pruebas de la tarea 12. Son pruebas por ancho de pantalla, no una revisión en todos los modelos de teléfono.</a:t>
            </a:r>
          </a:p>
          <a:p xmlns:a="http://schemas.openxmlformats.org/drawingml/2006/main">
            <a:r>
              <a:t>Referencia visual: https://admision.cibertec.edu.pe/educacion-adulta/diseno-grafico/ y /assets/css/base-landings.css. Diseño adaptado para el proyecto académico, no plantilla oficial.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sitio superó ciento cincuenta y ocho comprobaciones: noventa y ocho generales, cuarenta y cuatro del formulario y la calculadora, y dieciséis de galería y video. También se revisaron las seis páginas en computadora y celular. El Demo Reel dura cuatro minutos y cuarenta y cuatro segundos y resume el funcionamiento con narración en español.</a:t>
            </a:r>
          </a:p>
          <a:p xmlns:a="http://schemas.openxmlformats.org/drawingml/2006/main">
            <a:r>
              <a:t>Fuente: Registros de la tarea 12 y verificaciones del Demo Reel. Las pruebas corresponden al funcionamiento local en Chrome.</a:t>
            </a:r>
          </a:p>
          <a:p xmlns:a="http://schemas.openxmlformats.org/drawingml/2006/main">
            <a:r>
              <a:t>Referencia visual: https://admision.cibertec.edu.pe/educacion-adulta/diseno-grafico/ y /assets/css/base-landings.css. Diseño adaptado para el proyecto académico, no plantilla oficial.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proyecto reúne la información de las diez canchas en seis páginas. La calculadora aplica las tarifas según el horario y el formulario muestra un resumen de ejemplo. El sitio se adapta a los anchos de pantalla revisados. Como mejoras futuras, propongo probar otros navegadores e incorporar disponibilidad y reservas reales con almacenamiento y protección de datos. Gracias por su atención.</a:t>
            </a:r>
          </a:p>
          <a:p xmlns:a="http://schemas.openxmlformats.org/drawingml/2006/main">
            <a:r>
              <a:t>Fuente: Informe final, conclusiones y recomendaciones.</a:t>
            </a:r>
          </a:p>
          <a:p xmlns:a="http://schemas.openxmlformats.org/drawingml/2006/main">
            <a:r>
              <a:t>Referencia visual: https://admision.cibertec.edu.pe/educacion-adulta/diseno-grafico/ y /assets/css/base-landings.css. Diseño adaptado para el proyecto académico, no plantilla oficial.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191d86a88f40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cfc360d4148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e2753096f64b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e74f2957ec48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700c444d2411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aa5896afc46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2784E1-CA8E-45C3-9A94-A278D43D82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FDF8966-A131-4E7F-B106-6E1C38D719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1FF969C-E178-42DD-AFEA-AD1080E880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640C68-41A5-49C9-B071-2D0FDBADA4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46CA120-AE50-4E83-8826-2C0973E9FD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16439A6-E6D5-44CC-852E-1B11A9362A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366F03-40BB-44C3-841C-C61550FC7B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3E0B6DB-EC47-4DED-97B3-8A3AC2298D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6C9D35-95EB-4D54-89CA-82F9F66EA2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60F6B0-94EA-465D-992D-5DDF1F677D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29acea9ff14364" /><Relationship Type="http://schemas.openxmlformats.org/officeDocument/2006/relationships/slideLayout" Target="/ppt/slideLayouts/slideLayout1.xml" Id="R56ebb75c469b41df" /><Relationship Type="http://schemas.openxmlformats.org/officeDocument/2006/relationships/slideLayout" Target="/ppt/slideLayouts/slideLayout2.xml" Id="R1bad0d428b894259" /><Relationship Type="http://schemas.openxmlformats.org/officeDocument/2006/relationships/slideLayout" Target="/ppt/slideLayouts/slideLayout3.xml" Id="R9edbbe46f4f04d1c" /><Relationship Type="http://schemas.openxmlformats.org/officeDocument/2006/relationships/slideLayout" Target="/ppt/slideLayouts/slideLayout4.xml" Id="R7014178a4e874836" /><Relationship Type="http://schemas.openxmlformats.org/officeDocument/2006/relationships/slideLayout" Target="/ppt/slideLayouts/slideLayout5.xml" Id="Rb9c8ee307484450e" /><Relationship Type="http://schemas.openxmlformats.org/officeDocument/2006/relationships/slideLayout" Target="/ppt/slideLayouts/slideLayout6.xml" Id="Rac95036deca34c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ebb75c469b41df"/>
    <p:sldLayoutId xmlns:r="http://schemas.openxmlformats.org/officeDocument/2006/relationships" id="2147483650" r:id="R1bad0d428b894259"/>
    <p:sldLayoutId xmlns:r="http://schemas.openxmlformats.org/officeDocument/2006/relationships" id="2147483651" r:id="R9edbbe46f4f04d1c"/>
    <p:sldLayoutId xmlns:r="http://schemas.openxmlformats.org/officeDocument/2006/relationships" id="2147483652" r:id="R7014178a4e874836"/>
    <p:sldLayoutId xmlns:r="http://schemas.openxmlformats.org/officeDocument/2006/relationships" id="2147483653" r:id="Rb9c8ee307484450e"/>
    <p:sldLayoutId xmlns:r="http://schemas.openxmlformats.org/officeDocument/2006/relationships" id="2147483654" r:id="Rac95036deca34c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3a547df1004d80" /><Relationship Type="http://schemas.openxmlformats.org/officeDocument/2006/relationships/image" Target="/ppt/media/image.png" Id="Rba46df9ba9114ced" /><Relationship Type="http://schemas.openxmlformats.org/officeDocument/2006/relationships/image" Target="/ppt/media/image2.png" Id="R1012f14a49a24a65" /><Relationship Type="http://schemas.openxmlformats.org/officeDocument/2006/relationships/image" Target="/ppt/media/image3.png" Id="R4cce60731a3948a6" /><Relationship Type="http://schemas.openxmlformats.org/officeDocument/2006/relationships/notesSlide" Target="/ppt/notesSlides/notesSlide1.xml" Id="Rb2640573c5254a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a8efcaf2954c50" /><Relationship Type="http://schemas.openxmlformats.org/officeDocument/2006/relationships/notesSlide" Target="/ppt/notesSlides/notesSlide2.xml" Id="R0d3ae925e5b245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5dd7aa2b87453f" /><Relationship Type="http://schemas.openxmlformats.org/officeDocument/2006/relationships/notesSlide" Target="/ppt/notesSlides/notesSlide3.xml" Id="R7e319f2e44e744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1f2ccd5960463b" /><Relationship Type="http://schemas.openxmlformats.org/officeDocument/2006/relationships/image" Target="/ppt/media/image4.png" Id="Ra0ec2b3f977b4121" /><Relationship Type="http://schemas.openxmlformats.org/officeDocument/2006/relationships/notesSlide" Target="/ppt/notesSlides/notesSlide4.xml" Id="R0835ee5985f648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8b887079a439e" /><Relationship Type="http://schemas.openxmlformats.org/officeDocument/2006/relationships/notesSlide" Target="/ppt/notesSlides/notesSlide5.xml" Id="R4691b659aa2c41b3" 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bf845fd9d56422f"/><Relationship Type="http://schemas.openxmlformats.org/officeDocument/2006/relationships/notesSlide" Target="/ppt/notesSlides/notesSlide6.xml" Id="R31b9349afc844119"/><Relationship Id="rIdMapaPenpot" Type="http://schemas.openxmlformats.org/officeDocument/2006/relationships/image" Target="../media/mapa-penpot.png"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a10d9310f747e3" /><Relationship Type="http://schemas.openxmlformats.org/officeDocument/2006/relationships/image" Target="/ppt/media/image5.png" Id="R69cb0b732b42436c" /><Relationship Type="http://schemas.openxmlformats.org/officeDocument/2006/relationships/image" Target="/ppt/media/image6.png" Id="R0d83a267480c4fa6" /><Relationship Type="http://schemas.openxmlformats.org/officeDocument/2006/relationships/notesSlide" Target="/ppt/notesSlides/notesSlide7.xml" Id="R572fdb9c6b1547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30f9ea801547c1" /><Relationship Type="http://schemas.openxmlformats.org/officeDocument/2006/relationships/image" Target="/ppt/media/image7.png" Id="Ra9fd57db4318494d" /><Relationship Type="http://schemas.openxmlformats.org/officeDocument/2006/relationships/notesSlide" Target="/ppt/notesSlides/notesSlide8.xml" Id="Raad506176ab541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e68779144e4e70" /><Relationship Type="http://schemas.openxmlformats.org/officeDocument/2006/relationships/image" Target="/ppt/media/image8.png" Id="R85decadfa82f4da4" /><Relationship Type="http://schemas.openxmlformats.org/officeDocument/2006/relationships/notesSlide" Target="/ppt/notesSlides/notesSlide9.xml" Id="R2f1ab864dcdc4a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25773626f2420e" /><Relationship Type="http://schemas.openxmlformats.org/officeDocument/2006/relationships/image" Target="/ppt/media/image9.png" Id="R7ad76d167da2497c" /><Relationship Type="http://schemas.openxmlformats.org/officeDocument/2006/relationships/notesSlide" Target="/ppt/notesSlides/notesSlide10.xml" Id="R2ebd5ebf0f5d46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abade8a8ff45d9" /><Relationship Type="http://schemas.openxmlformats.org/officeDocument/2006/relationships/image" Target="/ppt/media/image10.png" Id="R7240bc04ac0041dd" /><Relationship Type="http://schemas.openxmlformats.org/officeDocument/2006/relationships/notesSlide" Target="/ppt/notesSlides/notesSlide11.xml" Id="R47d1d116570446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b82e5466704074" /><Relationship Type="http://schemas.openxmlformats.org/officeDocument/2006/relationships/image" Target="/ppt/media/image11.png" Id="R7bd0ffba21204804" /><Relationship Type="http://schemas.openxmlformats.org/officeDocument/2006/relationships/notesSlide" Target="/ppt/notesSlides/notesSlide12.xml" Id="Rc455672a12184e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4db8f056034f52" /><Relationship Type="http://schemas.openxmlformats.org/officeDocument/2006/relationships/image" Target="/ppt/media/image12.png" Id="Rff43780606694d77" /><Relationship Type="http://schemas.openxmlformats.org/officeDocument/2006/relationships/notesSlide" Target="/ppt/notesSlides/notesSlide13.xml" Id="R2cf56537bfe54f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4cefbcba764e9b" /><Relationship Type="http://schemas.openxmlformats.org/officeDocument/2006/relationships/image" Target="/ppt/media/image13.png" Id="Rc4ebaa98e961489b" /><Relationship Type="http://schemas.openxmlformats.org/officeDocument/2006/relationships/notesSlide" Target="/ppt/notesSlides/notesSlide14.xml" Id="Rce2d5db9b8c141e9" 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6a10d9310f747e3"/><Relationship Type="http://schemas.openxmlformats.org/officeDocument/2006/relationships/image" Target="../media/fidelidad-0-desk.png" Id="R69cb0b732b42436c"/><Relationship Type="http://schemas.openxmlformats.org/officeDocument/2006/relationships/image" Target="../media/fidelidad-0-mobile.png" Id="R0d83a267480c4fa6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6a10d9310f747e3"/><Relationship Type="http://schemas.openxmlformats.org/officeDocument/2006/relationships/image" Target="../media/fidelidad-1-desk.png" Id="R69cb0b732b42436c"/><Relationship Type="http://schemas.openxmlformats.org/officeDocument/2006/relationships/image" Target="../media/fidelidad-1-mobile.png" Id="R0d83a267480c4fa6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6a10d9310f747e3"/><Relationship Type="http://schemas.openxmlformats.org/officeDocument/2006/relationships/image" Target="../media/fidelidad-2-desk.png" Id="R69cb0b732b42436c"/><Relationship Type="http://schemas.openxmlformats.org/officeDocument/2006/relationships/image" Target="../media/fidelidad-2-mobile.png" Id="R0d83a267480c4fa6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6a10d9310f747e3"/><Relationship Type="http://schemas.openxmlformats.org/officeDocument/2006/relationships/image" Target="../media/fidelidad-3-desk.png" Id="R69cb0b732b42436c"/><Relationship Type="http://schemas.openxmlformats.org/officeDocument/2006/relationships/image" Target="../media/fidelidad-3-mobile.png" Id="R0d83a267480c4fa6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6a10d9310f747e3"/><Relationship Type="http://schemas.openxmlformats.org/officeDocument/2006/relationships/image" Target="../media/fidelidad-4-desk.png" Id="R69cb0b732b42436c"/><Relationship Type="http://schemas.openxmlformats.org/officeDocument/2006/relationships/image" Target="../media/fidelidad-4-mobile.png" Id="R0d83a267480c4fa6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6a10d9310f747e3"/><Relationship Type="http://schemas.openxmlformats.org/officeDocument/2006/relationships/image" Target="../media/fidelidad-5-desk.png" Id="R69cb0b732b42436c"/><Relationship Type="http://schemas.openxmlformats.org/officeDocument/2006/relationships/image" Target="../media/fidelidad-5-mobile.png" Id="R0d83a267480c4fa6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6a10d9310f747e3"/><Relationship Type="http://schemas.openxmlformats.org/officeDocument/2006/relationships/image" Target="../media/fidelidad-6-desk.png" Id="R69cb0b732b42436c"/><Relationship Type="http://schemas.openxmlformats.org/officeDocument/2006/relationships/image" Target="../media/fidelidad-6-mobile.png" Id="R0d83a267480c4fa6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6a10d9310f747e3"/><Relationship Type="http://schemas.openxmlformats.org/officeDocument/2006/relationships/image" Target="../media/fidelidad-7-desk.png" Id="R69cb0b732b42436c"/><Relationship Type="http://schemas.openxmlformats.org/officeDocument/2006/relationships/image" Target="../media/fidelidad-7-mobile.png" Id="R0d83a267480c4fa6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6a10d9310f747e3"/><Relationship Type="http://schemas.openxmlformats.org/officeDocument/2006/relationships/image" Target="../media/fidelidad-8-desk.png" Id="R69cb0b732b42436c"/><Relationship Type="http://schemas.openxmlformats.org/officeDocument/2006/relationships/image" Target="../media/fidelidad-8-mobile.png" Id="R0d83a267480c4fa6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6a10d9310f747e3"/><Relationship Type="http://schemas.openxmlformats.org/officeDocument/2006/relationships/image" Target="../media/fidelidad-9-desk.png" Id="R69cb0b732b42436c"/><Relationship Type="http://schemas.openxmlformats.org/officeDocument/2006/relationships/image" Target="../media/fidelidad-9-mobile.png" Id="R0d83a267480c4fa6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6a10d9310f747e3"/><Relationship Type="http://schemas.openxmlformats.org/officeDocument/2006/relationships/image" Target="../media/fidelidad-10-desk.png" Id="R69cb0b732b42436c"/><Relationship Type="http://schemas.openxmlformats.org/officeDocument/2006/relationships/image" Target="../media/fidelidad-10-mobile.png" Id="R0d83a267480c4fa6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6a10d9310f747e3"/><Relationship Type="http://schemas.openxmlformats.org/officeDocument/2006/relationships/image" Target="../media/fidelidad-11-desk.png" Id="R69cb0b732b42436c"/><Relationship Type="http://schemas.openxmlformats.org/officeDocument/2006/relationships/image" Target="../media/fidelidad-11-mobile.png" Id="R0d83a267480c4fa6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0A9E8-0149-4508-BA89-0E52EF1D09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6df9ba9114ced"/>
          <a:stretch xmlns:a="http://schemas.openxmlformats.org/drawingml/2006/main"/>
        </p:blipFill>
        <p:spPr>
          <a:xfrm xmlns:a="http://schemas.openxmlformats.org/drawingml/2006/main">
            <a:off x="10503633" y="0"/>
            <a:ext cx="1090735" cy="13811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8E524-7DB1-445C-A705-5DF6971D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4EBDD"/>
                </a:solidFill>
                <a:latin typeface="Arial"/>
                <a:ea typeface="Arial"/>
                <a:cs typeface="Arial"/>
              </a:rPr>
              <a:t>La Canchita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DCB7D-665D-46EB-B791-3E2661C4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FD7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FD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7CE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90555-CEA8-46AA-8CB0-1CC45438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01 / 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02A69-2E92-4699-A6FD-5ABD71D34B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2f14a49a24a65"/>
          <a:stretch xmlns:a="http://schemas.openxmlformats.org/drawingml/2006/main"/>
        </p:blipFill>
        <p:spPr>
          <a:xfrm xmlns:a="http://schemas.openxmlformats.org/drawingml/2006/main">
            <a:off x="658147" y="1238250"/>
            <a:ext cx="1998406" cy="457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80592-2775-42AB-9696-9A6ED818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Alquiler de canchas deportivas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6D798-BB94-4D1D-87F9-526C89EA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619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Erik Guerrero Valentin</a:t>
            </a:r>
          </a:p>
          <a:p xmlns:a="http://schemas.openxmlformats.org/drawingml/2006/main">
            <a:pPr>
              <a:defRPr sz="2175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  <a:p xmlns:a="http://schemas.openxmlformats.org/drawingml/2006/main">
            <a:pPr>
              <a:defRPr sz="2175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TEMA 4, primer ciclo, 2026-I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CC6D4-1D9F-4474-B011-7B1293C3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Proyecto académico ficticio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349D8-E535-4680-977B-824CB2F418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e60731a3948a6"/>
          <a:stretch xmlns:a="http://schemas.openxmlformats.org/drawingml/2006/main"/>
        </p:blipFill>
        <p:spPr>
          <a:xfrm xmlns:a="http://schemas.openxmlformats.org/drawingml/2006/main">
            <a:off x="6572250" y="1949450"/>
            <a:ext cx="5010150" cy="3340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6758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E6E53-DA87-4EB6-A72C-DB08CB91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4769"/>
                </a:solidFill>
                <a:latin typeface="Arial"/>
                <a:ea typeface="Arial"/>
                <a:cs typeface="Arial"/>
              </a:rPr>
              <a:t>Problema y propuesta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8B838-C77C-4575-A799-ED926C87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49857C-4DC9-4964-BB4F-1EA31751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02 /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44BBF-3539-4259-8FAB-701199A5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D2C"/>
                </a:solidFill>
                <a:latin typeface="Arial"/>
                <a:ea typeface="Arial"/>
                <a:cs typeface="Arial"/>
              </a:rPr>
              <a:t>Antes de alquilar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202AC-E587-4E71-BA86-A191D821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El grupo necesita conocer las canchas, sus características y el costo.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A27AA-4109-423D-A98B-82847223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D2C"/>
                </a:solidFill>
                <a:latin typeface="Arial"/>
                <a:ea typeface="Arial"/>
                <a:cs typeface="Arial"/>
              </a:rPr>
              <a:t>Propuesta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6624B-E5D6-4ACA-938E-BFB78C25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Consultar las opciones y calcular el alquiler desde una computadora o un celular.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0113E-C11E-4632-AD2A-3A857D25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La web está dirigida a grupos que desean practicar fútbol o vóley.</a:t>
            </a:r>
          </a:p>
        </p:txBody>
      </p:sp>
    </p:spTree>
    <p:extLst>
      <p:ext uri="{BB962C8B-B14F-4D97-AF65-F5344CB8AC3E}">
        <p14:creationId xmlns:p14="http://schemas.microsoft.com/office/powerpoint/2010/main" val="7803086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A8314-0396-4207-8DD7-C6E88F57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4769"/>
                </a:solidFill>
                <a:latin typeface="Arial"/>
                <a:ea typeface="Arial"/>
                <a:cs typeface="Arial"/>
              </a:rPr>
              <a:t>Diagnóstico SEPTE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91B6B-8009-42FA-A91A-974B6349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CACDA-0F44-49B1-B8FD-CA016A15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03 /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00DA4-A4D6-4B2A-A8A9-38F2D1CE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D2C"/>
                </a:solidFill>
                <a:latin typeface="Arial"/>
                <a:ea typeface="Arial"/>
                <a:cs typeface="Arial"/>
              </a:rPr>
              <a:t>Social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AE914-F59A-4C45-AC2C-E38ADEFB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14500"/>
            <a:ext cx="8239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31 % de los adultos con actividad física insuficiente</a:t>
            </a:r>
          </a:p>
          <a:p xmlns:a="http://schemas.openxmlformats.org/drawingml/2006/main">
            <a: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Mundo, 2022. Fuente: OMS.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B3DF5-AAAA-40C6-9BCF-408ACC80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D2C"/>
                </a:solidFill>
                <a:latin typeface="Arial"/>
                <a:ea typeface="Arial"/>
                <a:cs typeface="Arial"/>
              </a:rPr>
              <a:t>Económica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4C862-1936-42A0-9397-60C62062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05150"/>
            <a:ext cx="8239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25,7 % de la población en situación de pobreza monetaria</a:t>
            </a:r>
          </a:p>
          <a:p xmlns:a="http://schemas.openxmlformats.org/drawingml/2006/main">
            <a: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Perú, 2025. Fuente: INEI.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99245-0F45-45D4-9AB0-431C6948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D2C"/>
                </a:solidFill>
                <a:latin typeface="Arial"/>
                <a:ea typeface="Arial"/>
                <a:cs typeface="Arial"/>
              </a:rPr>
              <a:t>Tecnológica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154A7-FE2B-421F-A731-F1C1DFFC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95800"/>
            <a:ext cx="8239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78,2 % de hogares con Internet</a:t>
            </a:r>
          </a:p>
          <a:p xmlns:a="http://schemas.openxmlformats.org/drawingml/2006/main">
            <a: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Lima Metropolitana, IV trimestre de 2025. INEI.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EBF72-3738-4061-AEC0-04F62E88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Las cifras aportan contexto y no describen la demanda del distrito.</a:t>
            </a:r>
          </a:p>
        </p:txBody>
      </p:sp>
    </p:spTree>
    <p:extLst>
      <p:ext uri="{BB962C8B-B14F-4D97-AF65-F5344CB8AC3E}">
        <p14:creationId xmlns:p14="http://schemas.microsoft.com/office/powerpoint/2010/main" val="14689398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63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2E265-8196-4222-920E-5A6B445510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c2b3f977b4121"/>
          <a:stretch xmlns:a="http://schemas.openxmlformats.org/drawingml/2006/main"/>
        </p:blipFill>
        <p:spPr>
          <a:xfrm xmlns:a="http://schemas.openxmlformats.org/drawingml/2006/main">
            <a:off x="10503633" y="0"/>
            <a:ext cx="1090735" cy="13811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6106F-1DF4-474C-894C-456DA5BC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4EBDD"/>
                </a:solidFill>
                <a:latin typeface="Arial"/>
                <a:ea typeface="Arial"/>
                <a:cs typeface="Arial"/>
              </a:rPr>
              <a:t>Objetivos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B063F-5A66-402A-BE74-5ED5675E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FD7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FD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7CE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F6496-D7EC-4C00-B9DE-4845BA92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04 /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57398-8893-4374-BF69-559FCB1C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EBDD"/>
                </a:solidFill>
                <a:latin typeface="Arial"/>
                <a:ea typeface="Arial"/>
                <a:cs typeface="Arial"/>
              </a:rPr>
              <a:t>1. Construir las seis páginas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ACFCD-B417-498B-809E-526CC205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6 páginas y 12 revisiones visuales</a:t>
            </a:r>
          </a:p>
          <a:p xmlns:a="http://schemas.openxmlformats.org/drawingml/2006/main">
            <a:pPr>
              <a:defRPr sz="24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Filtros: 10 canchas, 7 de fútbol y 3 de vóley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B3F36-B19A-46C5-8C91-6C46EAB3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EBDD"/>
                </a:solidFill>
                <a:latin typeface="Arial"/>
                <a:ea typeface="Arial"/>
                <a:cs typeface="Arial"/>
              </a:rPr>
              <a:t>2. Calcular el costo y validar la solicitud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BC566-D6BD-4F02-B6A4-5ED2C790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6 cálculos correctos y 3 solicitudes inválidas rechazadas</a:t>
            </a:r>
          </a:p>
          <a:p xmlns:a="http://schemas.openxmlformats.org/drawingml/2006/main">
            <a:pPr>
              <a:defRPr sz="225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Plazo de ambos objetivos: 16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7444694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BBEC35-A18D-46A7-AECE-A2521235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4769"/>
                </a:solidFill>
                <a:latin typeface="Arial"/>
                <a:ea typeface="Arial"/>
                <a:cs typeface="Arial"/>
              </a:rPr>
              <a:t>Definición y alcance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CA73B-A464-4AF1-AC60-5649C37A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00199-1117-4B65-9622-E6DD54C9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05 /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BEAAF-E7D7-43B0-97FA-530A637F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381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3D2C"/>
                </a:solidFill>
                <a:latin typeface="Arial"/>
                <a:ea typeface="Arial"/>
                <a:cs typeface="Arial"/>
              </a:rPr>
              <a:t>7 canchas de fútbol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E7864-D7DB-4653-BBB6-436706F6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286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Césped sintético</a:t>
            </a:r>
          </a:p>
          <a:p xmlns:a="http://schemas.openxmlformats.org/drawingml/2006/main">
            <a:pPr>
              <a:defRPr sz="232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Hasta 14 jugadores por cancha</a:t>
            </a:r>
          </a:p>
          <a:p xmlns:a="http://schemas.openxmlformats.org/drawingml/2006/main">
            <a:pPr>
              <a:defRPr sz="232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4 con techo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84A45-CB45-4910-A8CD-D0D4CB6F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5000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63D2C"/>
                </a:solidFill>
                <a:latin typeface="Arial"/>
                <a:ea typeface="Arial"/>
                <a:cs typeface="Arial"/>
              </a:rPr>
              <a:t>3 canchas de vóley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336F9-9D7D-4201-8FB5-6E0F78AC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905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Losa</a:t>
            </a:r>
          </a:p>
          <a:p xmlns:a="http://schemas.openxmlformats.org/drawingml/2006/main">
            <a:pPr>
              <a:defRPr sz="232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Hasta 12 jugadores por cancha</a:t>
            </a:r>
          </a:p>
          <a:p xmlns:a="http://schemas.openxmlformats.org/drawingml/2006/main">
            <a:pPr>
              <a:defRPr sz="232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1 con techo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BF5EB-3510-40C5-A77E-87C5C7A1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3D2C"/>
                </a:solidFill>
                <a:latin typeface="Arial"/>
                <a:ea typeface="Arial"/>
                <a:cs typeface="Arial"/>
              </a:rPr>
              <a:t>Lunes a domingo, de 8 a. m. a 11 p. 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7AC2B-D9CF-47EE-BFFF-6FA717F5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Solicitud de ejemplo, sin reservas reales ni pagos.</a:t>
            </a:r>
          </a:p>
        </p:txBody>
      </p:sp>
    </p:spTree>
    <p:extLst>
      <p:ext uri="{BB962C8B-B14F-4D97-AF65-F5344CB8AC3E}">
        <p14:creationId xmlns:p14="http://schemas.microsoft.com/office/powerpoint/2010/main" val="2778050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A6D73-FD4F-4763-8E74-F292BD5A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4769"/>
                </a:solidFill>
                <a:latin typeface="Arial"/>
                <a:ea typeface="Arial"/>
                <a:cs typeface="Arial"/>
              </a:rPr>
              <a:t>Mapa del sitio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66738-4CC1-425B-AE99-27523918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458FC-746F-495A-8AC3-3B919822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06 / 25</a:t>
            </a:r>
          </a:p>
        </p:txBody>
      </p:sp>
      <p:pic xmlns:a="http://schemas.openxmlformats.org/drawingml/2006/main" xmlns:r="http://schemas.openxmlformats.org/officeDocument/2006/relationships">
        <p:nvPicPr>
          <p:cNvPr id="900" name="Mapa del sitio exportado de Penpot" descr="Mapa completo de La Canchita, seis páginas y sus secciones"/>
          <p:cNvPicPr>
            <a:picLocks noChangeAspect="1"/>
          </p:cNvPicPr>
          <p:nvPr/>
        </p:nvPicPr>
        <p:blipFill>
          <a:blip r:embed="rIdMapaPenpot"/>
          <a:stretch>
            <a:fillRect/>
          </a:stretch>
        </p:blipFill>
        <p:spPr>
          <a:xfrm>
            <a:off x="2600417" y="1123950"/>
            <a:ext cx="699116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735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5586C-AA02-42C1-812F-059185AC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4769"/>
                </a:solidFill>
                <a:latin typeface="Arial"/>
                <a:ea typeface="Arial"/>
                <a:cs typeface="Arial"/>
              </a:rPr>
              <a:t>Diseño en Penpot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2CB45-F520-4942-8882-62E7043B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076D9-2D6B-46D4-9FB0-D6C309BD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5B7DF-F6ED-43D1-8FBF-81E5E1DA65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b0b732b42436c"/>
          <a:stretch xmlns:a="http://schemas.openxmlformats.org/drawingml/2006/main"/>
        </p:blipFill>
        <p:spPr>
          <a:xfrm xmlns:a="http://schemas.openxmlformats.org/drawingml/2006/main">
            <a:off x="2143125" y="1600200"/>
            <a:ext cx="4743450" cy="395287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9D6F9-D3D4-4A19-9BD9-5A72BDBF9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3a267480c4fa6"/>
          <a:stretch xmlns:a="http://schemas.openxmlformats.org/drawingml/2006/main"/>
        </p:blipFill>
        <p:spPr>
          <a:xfrm xmlns:a="http://schemas.openxmlformats.org/drawingml/2006/main">
            <a:off x="9444752" y="1600200"/>
            <a:ext cx="1541621" cy="3952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62126-F0E9-4A6D-99EC-00F9A5E2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La Canchita · Alta fidelidad / La Canchita · Baja fidelidad</a:t>
            </a:r>
          </a:p>
        </p:txBody>
      </p:sp>
    </p:spTree>
    <p:extLst>
      <p:ext uri="{BB962C8B-B14F-4D97-AF65-F5344CB8AC3E}">
        <p14:creationId xmlns:p14="http://schemas.microsoft.com/office/powerpoint/2010/main" val="1786701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47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B6668-71E9-459E-B8EC-51F2EFDCFF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d57db4318494d"/>
          <a:stretch xmlns:a="http://schemas.openxmlformats.org/drawingml/2006/main"/>
        </p:blipFill>
        <p:spPr>
          <a:xfrm xmlns:a="http://schemas.openxmlformats.org/drawingml/2006/main">
            <a:off x="10503633" y="0"/>
            <a:ext cx="1090735" cy="13811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1568A-2051-47A0-8E7A-D0F9F7E0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4EBDD"/>
                </a:solidFill>
                <a:latin typeface="Arial"/>
                <a:ea typeface="Arial"/>
                <a:cs typeface="Arial"/>
              </a:rPr>
              <a:t>Herramientas y carpetas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BA6CF-0F49-421C-AFCB-EB525E74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FD7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FD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7CE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5AE15-0484-469C-827D-8CCB7BB4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19 /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B53B2-5004-4014-B871-2C11972C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2863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HTML5, CSS y Bootstrap</a:t>
            </a:r>
          </a:p>
          <a:p xmlns:a="http://schemas.openxmlformats.org/drawingml/2006/main">
            <a:pPr>
              <a:defRPr sz="24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JavaScript básico</a:t>
            </a:r>
          </a:p>
          <a:p xmlns:a="http://schemas.openxmlformats.org/drawingml/2006/main">
            <a:pPr>
              <a:defRPr sz="24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Penpot y GitHub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0DCC6-96DB-44BD-B10D-9E693AFF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5238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sitio/</a:t>
            </a:r>
          </a:p>
          <a:p xmlns:a="http://schemas.openxmlformats.org/drawingml/2006/main">
            <a:pPr>
              <a:defRPr sz="2175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  index.html y otras 5 páginas</a:t>
            </a:r>
          </a:p>
          <a:p xmlns:a="http://schemas.openxmlformats.org/drawingml/2006/main">
            <a:pPr>
              <a:defRPr sz="2175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  images/</a:t>
            </a:r>
          </a:p>
          <a:p xmlns:a="http://schemas.openxmlformats.org/drawingml/2006/main">
            <a:pPr>
              <a:defRPr sz="2175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  style/</a:t>
            </a:r>
          </a:p>
          <a:p xmlns:a="http://schemas.openxmlformats.org/drawingml/2006/main">
            <a:pPr>
              <a:defRPr sz="2175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  js/</a:t>
            </a:r>
          </a:p>
          <a:p xmlns:a="http://schemas.openxmlformats.org/drawingml/2006/main">
            <a:pPr>
              <a:defRPr sz="2175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  videos/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1971B-8C6B-4F82-93B2-86230159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Los recursos locales permiten abrir el sitio sin Internet.</a:t>
            </a:r>
          </a:p>
        </p:txBody>
      </p:sp>
    </p:spTree>
    <p:extLst>
      <p:ext uri="{BB962C8B-B14F-4D97-AF65-F5344CB8AC3E}">
        <p14:creationId xmlns:p14="http://schemas.microsoft.com/office/powerpoint/2010/main" val="20476769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42B17-F636-413F-A09D-3DB8B0C2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4769"/>
                </a:solidFill>
                <a:latin typeface="Arial"/>
                <a:ea typeface="Arial"/>
                <a:cs typeface="Arial"/>
              </a:rPr>
              <a:t>Menú y filtros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0D4F6-C69C-452A-A341-9B879BB8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2C37B-D370-4D05-84C7-C0A96189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20 /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35574-883B-48FE-A51F-36876714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00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Todas: 10 canchas</a:t>
            </a:r>
          </a:p>
          <a:p xmlns:a="http://schemas.openxmlformats.org/drawingml/2006/main">
            <a:pPr>
              <a:defRPr sz="255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Fútbol: 7 canchas</a:t>
            </a:r>
          </a:p>
          <a:p xmlns:a="http://schemas.openxmlformats.org/drawingml/2006/main">
            <a:pPr>
              <a:defRPr sz="255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Vóley: 3 canchas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414F1-9393-4B04-B089-E5AF23E45E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ecadfa82f4da4"/>
          <a:stretch xmlns:a="http://schemas.openxmlformats.org/drawingml/2006/main"/>
        </p:blipFill>
        <p:spPr>
          <a:xfrm xmlns:a="http://schemas.openxmlformats.org/drawingml/2006/main">
            <a:off x="4810125" y="2000250"/>
            <a:ext cx="6762750" cy="3381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3C198-085A-42C5-BD8B-2B7C970C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El filtro cambia las tarjetas sin recargar la página.</a:t>
            </a:r>
          </a:p>
        </p:txBody>
      </p:sp>
    </p:spTree>
    <p:extLst>
      <p:ext uri="{BB962C8B-B14F-4D97-AF65-F5344CB8AC3E}">
        <p14:creationId xmlns:p14="http://schemas.microsoft.com/office/powerpoint/2010/main" val="3996700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8B9BD-8F97-4C4C-BA92-977B635B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4769"/>
                </a:solidFill>
                <a:latin typeface="Arial"/>
                <a:ea typeface="Arial"/>
                <a:cs typeface="Arial"/>
              </a:rPr>
              <a:t>Calculadora del alquiler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99F00-124B-4240-8E61-1D84A2EB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29E00-3779-46FD-86CA-3CF63531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21 /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CAA34-9213-4A74-B137-9ACDCD37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61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D2C"/>
                </a:solidFill>
                <a:latin typeface="Arial"/>
                <a:ea typeface="Arial"/>
                <a:cs typeface="Arial"/>
              </a:rPr>
              <a:t>De 16:00 a 18:00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B9A82-458F-4A9E-B2A1-27C035E0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095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Fútbol</a:t>
            </a:r>
          </a:p>
          <a:p xmlns:a="http://schemas.openxmlformats.org/drawingml/2006/main">
            <a:pPr>
              <a:defRPr sz="240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S/ 40 + S/ 50 = S/ 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A4821-4323-4FEA-A8DE-68D48A66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095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Vóley</a:t>
            </a:r>
          </a:p>
          <a:p xmlns:a="http://schemas.openxmlformats.org/drawingml/2006/main">
            <a:pPr>
              <a:defRPr sz="240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S/ 30 + S/ 40 = S/ 70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BB9F1-679F-4DA8-8143-3A4E2C42EE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76d167da2497c"/>
          <a:stretch xmlns:a="http://schemas.openxmlformats.org/drawingml/2006/main"/>
        </p:blipFill>
        <p:spPr>
          <a:xfrm xmlns:a="http://schemas.openxmlformats.org/drawingml/2006/main">
            <a:off x="6000750" y="2214563"/>
            <a:ext cx="5524500" cy="2762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7D63C-FA6F-43FA-9DD9-04BBF4EB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Cada hora se calcula con la tarifa que le corresponde.</a:t>
            </a:r>
          </a:p>
        </p:txBody>
      </p:sp>
    </p:spTree>
    <p:extLst>
      <p:ext uri="{BB962C8B-B14F-4D97-AF65-F5344CB8AC3E}">
        <p14:creationId xmlns:p14="http://schemas.microsoft.com/office/powerpoint/2010/main" val="9753647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A4504-7C57-4A62-B9CD-48C9D14F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4769"/>
                </a:solidFill>
                <a:latin typeface="Arial"/>
                <a:ea typeface="Arial"/>
                <a:cs typeface="Arial"/>
              </a:rPr>
              <a:t>Formulario de ejemplo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8C091-4791-41DD-AFD0-E10DBB0B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0A841-1307-4308-A053-26166F6D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22 /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E172A-24C9-40EF-AE8B-4F0D0353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476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Campos obligatorios</a:t>
            </a:r>
          </a:p>
          <a:p xmlns:a="http://schemas.openxmlformats.org/drawingml/2006/main">
            <a:pPr>
              <a:defRPr sz="232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Correo, teléfono y fecha válidos</a:t>
            </a:r>
          </a:p>
          <a:p xmlns:a="http://schemas.openxmlformats.org/drawingml/2006/main">
            <a:pPr>
              <a:defRPr sz="232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Fin del alquiler: hasta las 23:00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4D5F5-024D-4783-B72B-57E68614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Los datos válidos generan un resumen en la misma página.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9FB26-27B8-4498-B65C-9D2DDEA9AB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0bc04ac0041dd"/>
          <a:stretch xmlns:a="http://schemas.openxmlformats.org/drawingml/2006/main"/>
        </p:blipFill>
        <p:spPr>
          <a:xfrm xmlns:a="http://schemas.openxmlformats.org/drawingml/2006/main">
            <a:off x="6286500" y="2357438"/>
            <a:ext cx="5238750" cy="2619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4B02D-2709-40F3-8D3E-05D023F7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Los datos de la demostración son ficticios.</a:t>
            </a:r>
          </a:p>
        </p:txBody>
      </p:sp>
    </p:spTree>
    <p:extLst>
      <p:ext uri="{BB962C8B-B14F-4D97-AF65-F5344CB8AC3E}">
        <p14:creationId xmlns:p14="http://schemas.microsoft.com/office/powerpoint/2010/main" val="10872253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827C0-6E03-4D58-ADBD-48D43480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4769"/>
                </a:solidFill>
                <a:latin typeface="Arial"/>
                <a:ea typeface="Arial"/>
                <a:cs typeface="Arial"/>
              </a:rPr>
              <a:t>Adaptación al celular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79D34-D278-4C5F-BA95-4EB7E882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0803B-ADC3-4548-8F84-2036AB5E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23 /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E01C2-A5BA-425E-B891-633ECA91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38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Menú que se abre con un botón</a:t>
            </a:r>
          </a:p>
          <a:p xmlns:a="http://schemas.openxmlformats.org/drawingml/2006/main">
            <a:pPr>
              <a:defRPr sz="255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Tarjetas en una columna</a:t>
            </a:r>
          </a:p>
          <a:p xmlns:a="http://schemas.openxmlformats.org/drawingml/2006/main">
            <a:pPr>
              <a:defRPr sz="2550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Filtros y formulario funcionales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104D9-E255-4FE5-B6DD-0CB066CCFA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0ffba21204804"/>
          <a:stretch xmlns:a="http://schemas.openxmlformats.org/drawingml/2006/main"/>
        </p:blipFill>
        <p:spPr>
          <a:xfrm xmlns:a="http://schemas.openxmlformats.org/drawingml/2006/main">
            <a:off x="8979297" y="1428750"/>
            <a:ext cx="2424906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2974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47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1D20A-9FC1-4948-A575-E304433345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3780606694d77"/>
          <a:stretch xmlns:a="http://schemas.openxmlformats.org/drawingml/2006/main"/>
        </p:blipFill>
        <p:spPr>
          <a:xfrm xmlns:a="http://schemas.openxmlformats.org/drawingml/2006/main">
            <a:off x="10503633" y="0"/>
            <a:ext cx="1090735" cy="13811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6061E-F181-4708-AC30-FEA2EDAE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4EBDD"/>
                </a:solidFill>
                <a:latin typeface="Arial"/>
                <a:ea typeface="Arial"/>
                <a:cs typeface="Arial"/>
              </a:rPr>
              <a:t>Resultados y video demostrativo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9EE2D-61B4-470F-920C-1ACD525A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FD7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FD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7CE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806FC-D72C-4478-89D1-ABD81A33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24 /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F1989-DF1F-4444-8F23-46567AA6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EBDD"/>
                </a:solidFill>
                <a:latin typeface="Arial"/>
                <a:ea typeface="Arial"/>
                <a:cs typeface="Arial"/>
              </a:rPr>
              <a:t>158 comprobaciones correctas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CE89C-5C5E-41D0-87A1-E0322606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085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98 generales</a:t>
            </a:r>
          </a:p>
          <a:p xmlns:a="http://schemas.openxmlformats.org/drawingml/2006/main">
            <a:pPr>
              <a:defRPr sz="24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44 de formulario y calculadora</a:t>
            </a:r>
          </a:p>
          <a:p xmlns:a="http://schemas.openxmlformats.org/drawingml/2006/main">
            <a:pPr>
              <a:defRPr sz="24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16 de galería y video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6749C-2580-46FE-BA1C-2D24ECA5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EBDD"/>
                </a:solidFill>
                <a:latin typeface="Arial"/>
                <a:ea typeface="Arial"/>
                <a:cs typeface="Arial"/>
              </a:rPr>
              <a:t>Demo Reel de 4:44 con narración en español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468B2-773B-4E24-AD63-92D75D38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Pruebas locales en Chrome, con cinco anchos de pantalla.</a:t>
            </a:r>
          </a:p>
        </p:txBody>
      </p:sp>
    </p:spTree>
    <p:extLst>
      <p:ext uri="{BB962C8B-B14F-4D97-AF65-F5344CB8AC3E}">
        <p14:creationId xmlns:p14="http://schemas.microsoft.com/office/powerpoint/2010/main" val="18475301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63D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58B17-F0CB-4AF5-B09A-40D3964984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baa98e961489b"/>
          <a:stretch xmlns:a="http://schemas.openxmlformats.org/drawingml/2006/main"/>
        </p:blipFill>
        <p:spPr>
          <a:xfrm xmlns:a="http://schemas.openxmlformats.org/drawingml/2006/main">
            <a:off x="10503633" y="0"/>
            <a:ext cx="1090735" cy="13811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356D9-2E97-4573-86E5-906B4034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4EBDD"/>
                </a:solidFill>
                <a:latin typeface="Arial"/>
                <a:ea typeface="Arial"/>
                <a:cs typeface="Arial"/>
              </a:rPr>
              <a:t>Conclusiones y mejoras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31A31-D9E1-4B5F-82A3-13EA37C2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FD7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FD7C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7CE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474BC-D9D0-4E4B-8A5F-C0B75908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25 / 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46499-22D1-4F25-A04E-B280B397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Las seis páginas reúnen la información del negocio.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31B35-8322-4723-991C-65233BEB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La calculadora aplica la tarifa de cada hora.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6B9D0-1E91-4C2D-A5B6-138BB8EB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El sitio se adapta a pantallas de computadora y celular.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A6C79-B8A5-4429-A3C6-D5236402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4EBD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4EBDD"/>
                </a:solidFill>
                <a:latin typeface="Arial"/>
                <a:ea typeface="Arial"/>
                <a:cs typeface="Arial"/>
              </a:rPr>
              <a:t>Mejoras futuras: ampliar las pruebas y añadir reservas reales.</a:t>
            </a:r>
          </a:p>
        </p:txBody>
      </p:sp>
    </p:spTree>
    <p:extLst>
      <p:ext uri="{BB962C8B-B14F-4D97-AF65-F5344CB8AC3E}">
        <p14:creationId xmlns:p14="http://schemas.microsoft.com/office/powerpoint/2010/main" val="21113440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5586C-AA02-42C1-812F-059185AC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4769"/>
                </a:solidFill>
                <a:latin typeface="Arial"/>
                <a:ea typeface="Arial"/>
                <a:cs typeface="Arial"/>
              </a:rPr>
              <a:t>La Canchita · Alta fidelidad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2CB45-F520-4942-8882-62E7043B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076D9-2D6B-46D4-9FB0-D6C309BD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07 / 25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5B7DF-F6ED-43D1-8FBF-81E5E1DA65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b0b732b42436c"/>
          <a:stretch xmlns:a="http://schemas.openxmlformats.org/drawingml/2006/main"/>
        </p:blipFill>
        <p:spPr>
          <a:xfrm xmlns:a="http://schemas.openxmlformats.org/drawingml/2006/main">
            <a:off x="2840875" y="1381125"/>
            <a:ext cx="2700250" cy="4048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9D6F9-D3D4-4A19-9BD9-5A72BDBF9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3a267480c4fa6"/>
          <a:stretch xmlns:a="http://schemas.openxmlformats.org/drawingml/2006/main"/>
        </p:blipFill>
        <p:spPr>
          <a:xfrm xmlns:a="http://schemas.openxmlformats.org/drawingml/2006/main">
            <a:off x="9181042" y="1381125"/>
            <a:ext cx="687917" cy="4048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62126-F0E9-4A6D-99EC-00F9A5E2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01 Inicio · Computadora y celular</a:t>
            </a:r>
          </a:p>
        </p:txBody>
      </p:sp>
    </p:spTree>
    <p:extLst>
      <p:ext uri="{BB962C8B-B14F-4D97-AF65-F5344CB8AC3E}">
        <p14:creationId xmlns:p14="http://schemas.microsoft.com/office/powerpoint/2010/main" val="17867016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5586C-AA02-42C1-812F-059185AC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4769"/>
                </a:solidFill>
                <a:latin typeface="Arial"/>
                <a:ea typeface="Arial"/>
                <a:cs typeface="Arial"/>
              </a:rPr>
              <a:t>La Canchita · Alta fidelidad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2CB45-F520-4942-8882-62E7043B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076D9-2D6B-46D4-9FB0-D6C309BD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08 / 25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5B7DF-F6ED-43D1-8FBF-81E5E1DA65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b0b732b42436c"/>
          <a:stretch xmlns:a="http://schemas.openxmlformats.org/drawingml/2006/main"/>
        </p:blipFill>
        <p:spPr>
          <a:xfrm xmlns:a="http://schemas.openxmlformats.org/drawingml/2006/main">
            <a:off x="3007914" y="1381125"/>
            <a:ext cx="2366171" cy="4048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9D6F9-D3D4-4A19-9BD9-5A72BDBF9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3a267480c4fa6"/>
          <a:stretch xmlns:a="http://schemas.openxmlformats.org/drawingml/2006/main"/>
        </p:blipFill>
        <p:spPr>
          <a:xfrm xmlns:a="http://schemas.openxmlformats.org/drawingml/2006/main">
            <a:off x="9341209" y="1381125"/>
            <a:ext cx="367583" cy="4048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62126-F0E9-4A6D-99EC-00F9A5E2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02 Canchas · Computadora y celular</a:t>
            </a:r>
          </a:p>
        </p:txBody>
      </p:sp>
    </p:spTree>
    <p:extLst>
      <p:ext uri="{BB962C8B-B14F-4D97-AF65-F5344CB8AC3E}">
        <p14:creationId xmlns:p14="http://schemas.microsoft.com/office/powerpoint/2010/main" val="17867016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5586C-AA02-42C1-812F-059185AC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4769"/>
                </a:solidFill>
                <a:latin typeface="Arial"/>
                <a:ea typeface="Arial"/>
                <a:cs typeface="Arial"/>
              </a:rPr>
              <a:t>La Canchita · Alta fidelidad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2CB45-F520-4942-8882-62E7043B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076D9-2D6B-46D4-9FB0-D6C309BD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09 / 25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5B7DF-F6ED-43D1-8FBF-81E5E1DA65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b0b732b42436c"/>
          <a:stretch xmlns:a="http://schemas.openxmlformats.org/drawingml/2006/main"/>
        </p:blipFill>
        <p:spPr>
          <a:xfrm xmlns:a="http://schemas.openxmlformats.org/drawingml/2006/main">
            <a:off x="2123872" y="1381125"/>
            <a:ext cx="4134255" cy="4048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9D6F9-D3D4-4A19-9BD9-5A72BDBF9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3a267480c4fa6"/>
          <a:stretch xmlns:a="http://schemas.openxmlformats.org/drawingml/2006/main"/>
        </p:blipFill>
        <p:spPr>
          <a:xfrm xmlns:a="http://schemas.openxmlformats.org/drawingml/2006/main">
            <a:off x="8996984" y="1381125"/>
            <a:ext cx="1056033" cy="4048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62126-F0E9-4A6D-99EC-00F9A5E2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03 Precios y horarios · Computadora y celular</a:t>
            </a:r>
          </a:p>
        </p:txBody>
      </p:sp>
    </p:spTree>
    <p:extLst>
      <p:ext uri="{BB962C8B-B14F-4D97-AF65-F5344CB8AC3E}">
        <p14:creationId xmlns:p14="http://schemas.microsoft.com/office/powerpoint/2010/main" val="17867016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5586C-AA02-42C1-812F-059185AC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4769"/>
                </a:solidFill>
                <a:latin typeface="Arial"/>
                <a:ea typeface="Arial"/>
                <a:cs typeface="Arial"/>
              </a:rPr>
              <a:t>La Canchita · Alta fidelidad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2CB45-F520-4942-8882-62E7043B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076D9-2D6B-46D4-9FB0-D6C309BD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10 / 25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5B7DF-F6ED-43D1-8FBF-81E5E1DA65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b0b732b42436c"/>
          <a:stretch xmlns:a="http://schemas.openxmlformats.org/drawingml/2006/main"/>
        </p:blipFill>
        <p:spPr>
          <a:xfrm xmlns:a="http://schemas.openxmlformats.org/drawingml/2006/main">
            <a:off x="2758035" y="1381125"/>
            <a:ext cx="2865929" cy="4048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9D6F9-D3D4-4A19-9BD9-5A72BDBF9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3a267480c4fa6"/>
          <a:stretch xmlns:a="http://schemas.openxmlformats.org/drawingml/2006/main"/>
        </p:blipFill>
        <p:spPr>
          <a:xfrm xmlns:a="http://schemas.openxmlformats.org/drawingml/2006/main">
            <a:off x="9242573" y="1381125"/>
            <a:ext cx="564855" cy="4048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62126-F0E9-4A6D-99EC-00F9A5E2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04 Instalaciones · Computadora y celular</a:t>
            </a:r>
          </a:p>
        </p:txBody>
      </p:sp>
    </p:spTree>
    <p:extLst>
      <p:ext uri="{BB962C8B-B14F-4D97-AF65-F5344CB8AC3E}">
        <p14:creationId xmlns:p14="http://schemas.microsoft.com/office/powerpoint/2010/main" val="17867016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5586C-AA02-42C1-812F-059185AC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4769"/>
                </a:solidFill>
                <a:latin typeface="Arial"/>
                <a:ea typeface="Arial"/>
                <a:cs typeface="Arial"/>
              </a:rPr>
              <a:t>La Canchita · Alta fidelidad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2CB45-F520-4942-8882-62E7043B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076D9-2D6B-46D4-9FB0-D6C309BD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11 / 25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5B7DF-F6ED-43D1-8FBF-81E5E1DA65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b0b732b42436c"/>
          <a:stretch xmlns:a="http://schemas.openxmlformats.org/drawingml/2006/main"/>
        </p:blipFill>
        <p:spPr>
          <a:xfrm xmlns:a="http://schemas.openxmlformats.org/drawingml/2006/main">
            <a:off x="2700893" y="1381125"/>
            <a:ext cx="2980215" cy="4048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9D6F9-D3D4-4A19-9BD9-5A72BDBF9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3a267480c4fa6"/>
          <a:stretch xmlns:a="http://schemas.openxmlformats.org/drawingml/2006/main"/>
        </p:blipFill>
        <p:spPr>
          <a:xfrm xmlns:a="http://schemas.openxmlformats.org/drawingml/2006/main">
            <a:off x="9196090" y="1381125"/>
            <a:ext cx="657820" cy="4048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62126-F0E9-4A6D-99EC-00F9A5E2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05 Solicitud de reserva · Computadora y celular</a:t>
            </a:r>
          </a:p>
        </p:txBody>
      </p:sp>
    </p:spTree>
    <p:extLst>
      <p:ext uri="{BB962C8B-B14F-4D97-AF65-F5344CB8AC3E}">
        <p14:creationId xmlns:p14="http://schemas.microsoft.com/office/powerpoint/2010/main" val="17867016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5586C-AA02-42C1-812F-059185AC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4769"/>
                </a:solidFill>
                <a:latin typeface="Arial"/>
                <a:ea typeface="Arial"/>
                <a:cs typeface="Arial"/>
              </a:rPr>
              <a:t>La Canchita · Alta fidelidad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2CB45-F520-4942-8882-62E7043B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076D9-2D6B-46D4-9FB0-D6C309BD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12 / 25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5B7DF-F6ED-43D1-8FBF-81E5E1DA65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b0b732b42436c"/>
          <a:stretch xmlns:a="http://schemas.openxmlformats.org/drawingml/2006/main"/>
        </p:blipFill>
        <p:spPr>
          <a:xfrm xmlns:a="http://schemas.openxmlformats.org/drawingml/2006/main">
            <a:off x="2286000" y="1381125"/>
            <a:ext cx="3810000" cy="4048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9D6F9-D3D4-4A19-9BD9-5A72BDBF9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3a267480c4fa6"/>
          <a:stretch xmlns:a="http://schemas.openxmlformats.org/drawingml/2006/main"/>
        </p:blipFill>
        <p:spPr>
          <a:xfrm xmlns:a="http://schemas.openxmlformats.org/drawingml/2006/main">
            <a:off x="9062018" y="1381125"/>
            <a:ext cx="925964" cy="4048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62126-F0E9-4A6D-99EC-00F9A5E2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06 Contacto · Computadora y celular</a:t>
            </a:r>
          </a:p>
        </p:txBody>
      </p:sp>
    </p:spTree>
    <p:extLst>
      <p:ext uri="{BB962C8B-B14F-4D97-AF65-F5344CB8AC3E}">
        <p14:creationId xmlns:p14="http://schemas.microsoft.com/office/powerpoint/2010/main" val="17867016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5586C-AA02-42C1-812F-059185AC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4769"/>
                </a:solidFill>
                <a:latin typeface="Arial"/>
                <a:ea typeface="Arial"/>
                <a:cs typeface="Arial"/>
              </a:rPr>
              <a:t>La Canchita · Baja fidelidad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2CB45-F520-4942-8882-62E7043B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076D9-2D6B-46D4-9FB0-D6C309BD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13 / 25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5B7DF-F6ED-43D1-8FBF-81E5E1DA65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b0b732b42436c"/>
          <a:stretch xmlns:a="http://schemas.openxmlformats.org/drawingml/2006/main"/>
        </p:blipFill>
        <p:spPr>
          <a:xfrm xmlns:a="http://schemas.openxmlformats.org/drawingml/2006/main">
            <a:off x="2322635" y="1381125"/>
            <a:ext cx="3736731" cy="4048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9D6F9-D3D4-4A19-9BD9-5A72BDBF9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3a267480c4fa6"/>
          <a:stretch xmlns:a="http://schemas.openxmlformats.org/drawingml/2006/main"/>
        </p:blipFill>
        <p:spPr>
          <a:xfrm xmlns:a="http://schemas.openxmlformats.org/drawingml/2006/main">
            <a:off x="9086453" y="1381125"/>
            <a:ext cx="877094" cy="4048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62126-F0E9-4A6D-99EC-00F9A5E2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01 Inicio · Computadora y celular</a:t>
            </a:r>
          </a:p>
        </p:txBody>
      </p:sp>
    </p:spTree>
    <p:extLst>
      <p:ext uri="{BB962C8B-B14F-4D97-AF65-F5344CB8AC3E}">
        <p14:creationId xmlns:p14="http://schemas.microsoft.com/office/powerpoint/2010/main" val="178670160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5586C-AA02-42C1-812F-059185AC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4769"/>
                </a:solidFill>
                <a:latin typeface="Arial"/>
                <a:ea typeface="Arial"/>
                <a:cs typeface="Arial"/>
              </a:rPr>
              <a:t>La Canchita · Baja fidelidad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2CB45-F520-4942-8882-62E7043B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076D9-2D6B-46D4-9FB0-D6C309BD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14 / 25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5B7DF-F6ED-43D1-8FBF-81E5E1DA65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b0b732b42436c"/>
          <a:stretch xmlns:a="http://schemas.openxmlformats.org/drawingml/2006/main"/>
        </p:blipFill>
        <p:spPr>
          <a:xfrm xmlns:a="http://schemas.openxmlformats.org/drawingml/2006/main">
            <a:off x="2322635" y="1381125"/>
            <a:ext cx="3736731" cy="4048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9D6F9-D3D4-4A19-9BD9-5A72BDBF9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3a267480c4fa6"/>
          <a:stretch xmlns:a="http://schemas.openxmlformats.org/drawingml/2006/main"/>
        </p:blipFill>
        <p:spPr>
          <a:xfrm xmlns:a="http://schemas.openxmlformats.org/drawingml/2006/main">
            <a:off x="9166189" y="1381125"/>
            <a:ext cx="717622" cy="4048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62126-F0E9-4A6D-99EC-00F9A5E2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02 Canchas · Computadora y celular</a:t>
            </a:r>
          </a:p>
        </p:txBody>
      </p:sp>
    </p:spTree>
    <p:extLst>
      <p:ext uri="{BB962C8B-B14F-4D97-AF65-F5344CB8AC3E}">
        <p14:creationId xmlns:p14="http://schemas.microsoft.com/office/powerpoint/2010/main" val="178670160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5586C-AA02-42C1-812F-059185AC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4769"/>
                </a:solidFill>
                <a:latin typeface="Arial"/>
                <a:ea typeface="Arial"/>
                <a:cs typeface="Arial"/>
              </a:rPr>
              <a:t>La Canchita · Baja fidelidad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2CB45-F520-4942-8882-62E7043B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076D9-2D6B-46D4-9FB0-D6C309BD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15 / 25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5B7DF-F6ED-43D1-8FBF-81E5E1DA65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b0b732b42436c"/>
          <a:stretch xmlns:a="http://schemas.openxmlformats.org/drawingml/2006/main"/>
        </p:blipFill>
        <p:spPr>
          <a:xfrm xmlns:a="http://schemas.openxmlformats.org/drawingml/2006/main">
            <a:off x="2322635" y="1381125"/>
            <a:ext cx="3736731" cy="4048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9D6F9-D3D4-4A19-9BD9-5A72BDBF9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3a267480c4fa6"/>
          <a:stretch xmlns:a="http://schemas.openxmlformats.org/drawingml/2006/main"/>
        </p:blipFill>
        <p:spPr>
          <a:xfrm xmlns:a="http://schemas.openxmlformats.org/drawingml/2006/main">
            <a:off x="9086453" y="1381125"/>
            <a:ext cx="877094" cy="4048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62126-F0E9-4A6D-99EC-00F9A5E2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03 Precios y horarios · Computadora y celular</a:t>
            </a:r>
          </a:p>
        </p:txBody>
      </p:sp>
    </p:spTree>
    <p:extLst>
      <p:ext uri="{BB962C8B-B14F-4D97-AF65-F5344CB8AC3E}">
        <p14:creationId xmlns:p14="http://schemas.microsoft.com/office/powerpoint/2010/main" val="178670160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5586C-AA02-42C1-812F-059185AC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4769"/>
                </a:solidFill>
                <a:latin typeface="Arial"/>
                <a:ea typeface="Arial"/>
                <a:cs typeface="Arial"/>
              </a:rPr>
              <a:t>La Canchita · Baja fidelidad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2CB45-F520-4942-8882-62E7043B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076D9-2D6B-46D4-9FB0-D6C309BD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16 / 25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5B7DF-F6ED-43D1-8FBF-81E5E1DA65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b0b732b42436c"/>
          <a:stretch xmlns:a="http://schemas.openxmlformats.org/drawingml/2006/main"/>
        </p:blipFill>
        <p:spPr>
          <a:xfrm xmlns:a="http://schemas.openxmlformats.org/drawingml/2006/main">
            <a:off x="2322635" y="1381125"/>
            <a:ext cx="3736731" cy="4048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9D6F9-D3D4-4A19-9BD9-5A72BDBF9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3a267480c4fa6"/>
          <a:stretch xmlns:a="http://schemas.openxmlformats.org/drawingml/2006/main"/>
        </p:blipFill>
        <p:spPr>
          <a:xfrm xmlns:a="http://schemas.openxmlformats.org/drawingml/2006/main">
            <a:off x="9086453" y="1381125"/>
            <a:ext cx="877094" cy="4048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62126-F0E9-4A6D-99EC-00F9A5E2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04 Instalaciones · Computadora y celular</a:t>
            </a:r>
          </a:p>
        </p:txBody>
      </p:sp>
    </p:spTree>
    <p:extLst>
      <p:ext uri="{BB962C8B-B14F-4D97-AF65-F5344CB8AC3E}">
        <p14:creationId xmlns:p14="http://schemas.microsoft.com/office/powerpoint/2010/main" val="178670160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5586C-AA02-42C1-812F-059185AC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4769"/>
                </a:solidFill>
                <a:latin typeface="Arial"/>
                <a:ea typeface="Arial"/>
                <a:cs typeface="Arial"/>
              </a:rPr>
              <a:t>La Canchita · Baja fidelidad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2CB45-F520-4942-8882-62E7043B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076D9-2D6B-46D4-9FB0-D6C309BD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17 / 25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5B7DF-F6ED-43D1-8FBF-81E5E1DA65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b0b732b42436c"/>
          <a:stretch xmlns:a="http://schemas.openxmlformats.org/drawingml/2006/main"/>
        </p:blipFill>
        <p:spPr>
          <a:xfrm xmlns:a="http://schemas.openxmlformats.org/drawingml/2006/main">
            <a:off x="2322635" y="1381125"/>
            <a:ext cx="3736731" cy="4048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9D6F9-D3D4-4A19-9BD9-5A72BDBF9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3a267480c4fa6"/>
          <a:stretch xmlns:a="http://schemas.openxmlformats.org/drawingml/2006/main"/>
        </p:blipFill>
        <p:spPr>
          <a:xfrm xmlns:a="http://schemas.openxmlformats.org/drawingml/2006/main">
            <a:off x="9086453" y="1381125"/>
            <a:ext cx="877094" cy="4048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62126-F0E9-4A6D-99EC-00F9A5E2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05 Solicitud de reserva · Computadora y celular</a:t>
            </a:r>
          </a:p>
        </p:txBody>
      </p:sp>
    </p:spTree>
    <p:extLst>
      <p:ext uri="{BB962C8B-B14F-4D97-AF65-F5344CB8AC3E}">
        <p14:creationId xmlns:p14="http://schemas.microsoft.com/office/powerpoint/2010/main" val="17867016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5586C-AA02-42C1-812F-059185AC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4769"/>
                </a:solidFill>
                <a:latin typeface="Arial"/>
                <a:ea typeface="Arial"/>
                <a:cs typeface="Arial"/>
              </a:rPr>
              <a:t>La Canchita · Baja fidelidad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2CB45-F520-4942-8882-62E7043B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Arquitectura de Entornos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076D9-2D6B-46D4-9FB0-D6C309BD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34125"/>
            <a:ext cx="109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47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4769"/>
                </a:solidFill>
                <a:latin typeface="Arial"/>
                <a:ea typeface="Arial"/>
                <a:cs typeface="Arial"/>
              </a:rPr>
              <a:t>18 / 25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5B7DF-F6ED-43D1-8FBF-81E5E1DA65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b0b732b42436c"/>
          <a:stretch xmlns:a="http://schemas.openxmlformats.org/drawingml/2006/main"/>
        </p:blipFill>
        <p:spPr>
          <a:xfrm xmlns:a="http://schemas.openxmlformats.org/drawingml/2006/main">
            <a:off x="2322635" y="1381125"/>
            <a:ext cx="3736731" cy="4048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9D6F9-D3D4-4A19-9BD9-5A72BDBF9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3a267480c4fa6"/>
          <a:stretch xmlns:a="http://schemas.openxmlformats.org/drawingml/2006/main"/>
        </p:blipFill>
        <p:spPr>
          <a:xfrm xmlns:a="http://schemas.openxmlformats.org/drawingml/2006/main">
            <a:off x="9086453" y="1381125"/>
            <a:ext cx="877094" cy="4048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62126-F0E9-4A6D-99EC-00F9A5E2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D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D2C"/>
                </a:solidFill>
                <a:latin typeface="Arial"/>
                <a:ea typeface="Arial"/>
                <a:cs typeface="Arial"/>
              </a:rPr>
              <a:t>06 Contacto · Computadora y celular</a:t>
            </a:r>
          </a:p>
        </p:txBody>
      </p:sp>
    </p:spTree>
    <p:extLst>
      <p:ext uri="{BB962C8B-B14F-4D97-AF65-F5344CB8AC3E}">
        <p14:creationId xmlns:p14="http://schemas.microsoft.com/office/powerpoint/2010/main" val="1786701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2026-10-18T00:36:25.5610000Z</dcterms:created>
  <dcterms:modified xsi:type="dcterms:W3CDTF">2026-10-18T00:36:25.5610000Z</dcterms:modified>
</coreProperties>
</file>